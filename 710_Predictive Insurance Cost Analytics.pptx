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Lato Ligh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D3B69B-A149-4FEE-A0E9-A7071AA76525}">
  <a:tblStyle styleId="{08D3B69B-A149-4FEE-A0E9-A7071AA7652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LatoLight-bold.fntdata"/><Relationship Id="rId27" Type="http://schemas.openxmlformats.org/officeDocument/2006/relationships/font" Target="fonts/LatoLigh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Ligh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LatoLigh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2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57712" y="4729162"/>
            <a:ext cx="3076575" cy="77896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75384" y="1349722"/>
            <a:ext cx="984123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PREDICTIVE INSURANCE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COST ANALYTICS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205162" y="3826222"/>
            <a:ext cx="57816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00FF"/>
                </a:solidFill>
                <a:latin typeface="Lato Light"/>
                <a:ea typeface="Lato Light"/>
                <a:cs typeface="Lato Light"/>
                <a:sym typeface="Lato Light"/>
              </a:rPr>
              <a:t>Multi-Linear Regression &amp; OLS Validation Modeling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557712" y="4929187"/>
            <a:ext cx="307657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Prepared by: </a:t>
            </a:r>
            <a:r>
              <a:rPr b="1" i="0" lang="en-US" sz="142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Protyay Chatterjee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557712" y="5218658"/>
            <a:ext cx="307657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MSc Data Science | St. Xavier's College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2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315277" y="2141190"/>
            <a:ext cx="11561445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00FF"/>
                </a:solidFill>
                <a:latin typeface="Poppins"/>
                <a:ea typeface="Poppins"/>
                <a:cs typeface="Poppins"/>
                <a:sym typeface="Poppins"/>
              </a:rPr>
              <a:t>01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250" u="none" cap="none" strike="noStrike">
                <a:solidFill>
                  <a:srgbClr val="FF00FF"/>
                </a:solidFill>
                <a:latin typeface="Poppins"/>
                <a:ea typeface="Poppins"/>
                <a:cs typeface="Poppins"/>
                <a:sym typeface="Poppins"/>
              </a:rPr>
              <a:t> EXPLORATORY DATA ANALYSIS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90550" y="4350990"/>
            <a:ext cx="110109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F3FF"/>
                </a:solidFill>
                <a:latin typeface="Lato"/>
                <a:ea typeface="Lato"/>
                <a:cs typeface="Lato"/>
                <a:sym typeface="Lato"/>
              </a:rPr>
              <a:t>Understanding Risk Drivers &amp; Data Distributions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2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1171"/>
            <a:ext cx="52673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4687937"/>
            <a:ext cx="5267325" cy="116949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90550" y="590550"/>
            <a:ext cx="1156144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3FF"/>
                </a:solidFill>
                <a:latin typeface="Poppins"/>
                <a:ea typeface="Poppins"/>
                <a:cs typeface="Poppins"/>
                <a:sym typeface="Poppins"/>
              </a:rPr>
              <a:t>DISTRIBUTION OF CHARGES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590550" y="1285875"/>
            <a:ext cx="11010900" cy="9525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590550" y="1991171"/>
            <a:ext cx="52673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The initial analysis of insurance charges reveals a high degree of skewness: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00696"/>
            <a:ext cx="52482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676275" y="276251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81050" y="2760612"/>
            <a:ext cx="50768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Right-Skewed Target:</a:t>
            </a: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 Majority of policies cluster in the low-cost bracket.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76275" y="3341459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81050" y="3339554"/>
            <a:ext cx="50768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Heavy Tails:</a:t>
            </a: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 High-cost outliers reach up to $63,770, suggesting non-normal error distribution in OLS.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76275" y="392040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81050" y="3918495"/>
            <a:ext cx="50768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Volatility:</a:t>
            </a: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 Variance increases with premium levels, indicating potential heteroscedasticity.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85825" y="4983212"/>
            <a:ext cx="467677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Inference: Log-transformation is likely necessary to stabilize variance.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2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513" y="1827966"/>
            <a:ext cx="4352544" cy="28163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-6724" t="-16632"/>
          <a:stretch/>
        </p:blipFill>
        <p:spPr>
          <a:xfrm>
            <a:off x="6000750" y="1404288"/>
            <a:ext cx="4892041" cy="319125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90550" y="590550"/>
            <a:ext cx="1156144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3FF"/>
                </a:solidFill>
                <a:latin typeface="Poppins"/>
                <a:ea typeface="Poppins"/>
                <a:cs typeface="Poppins"/>
                <a:sym typeface="Poppins"/>
              </a:rPr>
              <a:t>CATEGORICAL RISK DRIVERS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90550" y="1285875"/>
            <a:ext cx="11010900" cy="9525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590550" y="4799707"/>
            <a:ext cx="568071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3FF"/>
                </a:solidFill>
                <a:latin typeface="Poppins"/>
                <a:ea typeface="Poppins"/>
                <a:cs typeface="Poppins"/>
                <a:sym typeface="Poppins"/>
              </a:rPr>
              <a:t>IMPACT OF SMOKING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90550" y="5085457"/>
            <a:ext cx="54102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Smokers exhibit a massive premium gap compared to non-smokers, serving as the dominant cost driver.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191250" y="4799707"/>
            <a:ext cx="568071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3FF"/>
                </a:solidFill>
                <a:latin typeface="Poppins"/>
                <a:ea typeface="Poppins"/>
                <a:cs typeface="Poppins"/>
                <a:sym typeface="Poppins"/>
              </a:rPr>
              <a:t>REGIONAL VARIANCE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191250" y="5085457"/>
            <a:ext cx="54102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Variance is visible across regions, with the Northeast showing a distinct upper-quartile trend.</a:t>
            </a:r>
            <a:endParaRPr/>
          </a:p>
        </p:txBody>
      </p:sp>
      <p:pic>
        <p:nvPicPr>
          <p:cNvPr id="128" name="Google Shape;128;p16" title="Screenshot 2026-04-13 15095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0550" y="1899575"/>
            <a:ext cx="4343840" cy="2673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title="Screenshot 2026-04-13 15100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5525" y="1914839"/>
            <a:ext cx="4162537" cy="2642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2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19300"/>
            <a:ext cx="52673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90550" y="590550"/>
            <a:ext cx="1156144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3FF"/>
                </a:solidFill>
                <a:latin typeface="Poppins"/>
                <a:ea typeface="Poppins"/>
                <a:cs typeface="Poppins"/>
                <a:sym typeface="Poppins"/>
              </a:rPr>
              <a:t>PREDICTOR INDEPENDENCE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90550" y="1285875"/>
            <a:ext cx="11010900" cy="9525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590550" y="2019300"/>
            <a:ext cx="55306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F3FF"/>
                </a:solidFill>
                <a:latin typeface="Poppins"/>
                <a:ea typeface="Poppins"/>
                <a:cs typeface="Poppins"/>
                <a:sym typeface="Poppins"/>
              </a:rPr>
              <a:t>VIF VALIDATION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90550" y="2295525"/>
            <a:ext cx="52673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Correlation analysis confirms the stability of our predictor space:</a:t>
            </a:r>
            <a:endParaRPr/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28825"/>
            <a:ext cx="52482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676275" y="277740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781050" y="2775495"/>
            <a:ext cx="50768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Independence:</a:t>
            </a: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 Age, BMI, and Children show correlations near zero.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76275" y="335634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781050" y="3354437"/>
            <a:ext cx="50768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VIF Scores:</a:t>
            </a: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 Values are near 1.0, ensuring no multicollinearity.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76275" y="364581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81050" y="3643907"/>
            <a:ext cx="50768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Coefficient Stability:</a:t>
            </a: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 Reliable p-values and slope estimates across iterations.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2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315277" y="1636365"/>
            <a:ext cx="11561445" cy="302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00FF"/>
                </a:solidFill>
                <a:latin typeface="Poppins"/>
                <a:ea typeface="Poppins"/>
                <a:cs typeface="Poppins"/>
                <a:sym typeface="Poppins"/>
              </a:rPr>
              <a:t>02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250" u="none" cap="none" strike="noStrike">
                <a:solidFill>
                  <a:srgbClr val="FF00FF"/>
                </a:solidFill>
                <a:latin typeface="Poppins"/>
                <a:ea typeface="Poppins"/>
                <a:cs typeface="Poppins"/>
                <a:sym typeface="Poppins"/>
              </a:rPr>
              <a:t> OLS THEORETICAL FOUNDATIONS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90550" y="4855815"/>
            <a:ext cx="110109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F3FF"/>
                </a:solidFill>
                <a:latin typeface="Lato"/>
                <a:ea typeface="Lato"/>
                <a:cs typeface="Lato"/>
                <a:sym typeface="Lato"/>
              </a:rPr>
              <a:t>Proving Unbiasedness &amp; Minimum Error Criterion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2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58938"/>
            <a:ext cx="5267325" cy="29307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3904654"/>
            <a:ext cx="4676775" cy="51554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590550" y="590550"/>
            <a:ext cx="1156144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3FF"/>
                </a:solidFill>
                <a:latin typeface="Poppins"/>
                <a:ea typeface="Poppins"/>
                <a:cs typeface="Poppins"/>
                <a:sym typeface="Poppins"/>
              </a:rPr>
              <a:t>PROOF OF UNBIASED ESTIMATORS</a:t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590550" y="1285875"/>
            <a:ext cx="11010900" cy="9525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590550" y="3169890"/>
            <a:ext cx="52673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00F3FF"/>
                </a:solidFill>
                <a:latin typeface="Lato"/>
                <a:ea typeface="Lato"/>
                <a:cs typeface="Lato"/>
                <a:sym typeface="Lato"/>
              </a:rPr>
              <a:t>259.28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590550" y="4312890"/>
            <a:ext cx="52673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Mean Estimated Slope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629400" y="2754213"/>
            <a:ext cx="491061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FF"/>
                </a:solidFill>
                <a:latin typeface="Poppins"/>
                <a:ea typeface="Poppins"/>
                <a:cs typeface="Poppins"/>
                <a:sym typeface="Poppins"/>
              </a:rPr>
              <a:t>SIMULATION RESULTS (N=1000)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629400" y="3230463"/>
            <a:ext cx="467677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Through 1,000 sampling iterations (n=50), the mean slope converged to the true population value: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629400" y="4515445"/>
            <a:ext cx="467677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This demonstrates that while individual samples vary, OLS estimators remain fundamentally unbiased.</a:t>
            </a:r>
            <a:endParaRPr/>
          </a:p>
        </p:txBody>
      </p:sp>
      <p:pic>
        <p:nvPicPr>
          <p:cNvPr descr="image.png" id="168" name="Google Shape;16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4047529"/>
            <a:ext cx="1276647" cy="229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2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590550" y="590550"/>
            <a:ext cx="1156144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3FF"/>
                </a:solidFill>
                <a:latin typeface="Poppins"/>
                <a:ea typeface="Poppins"/>
                <a:cs typeface="Poppins"/>
                <a:sym typeface="Poppins"/>
              </a:rPr>
              <a:t>RSS MINIMIZATION PROOF</a:t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590550" y="1285875"/>
            <a:ext cx="11010900" cy="9525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590550" y="2734716"/>
            <a:ext cx="110109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A grid search simulation for BMI vs. Charges proves the analytical OLS solution finds the global minimum.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90550" y="4824412"/>
            <a:ext cx="110109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The extremely close proximity of the Grid Search to the OLS analytical solution validates the Least Squares Criterion.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590550" y="3214687"/>
            <a:ext cx="11010900" cy="13239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9" name="Google Shape;179;p20"/>
          <p:cNvGraphicFramePr/>
          <p:nvPr/>
        </p:nvGraphicFramePr>
        <p:xfrm>
          <a:off x="590550" y="32146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{08D3B69B-A149-4FEE-A0E9-A7071AA76525}</a:tableStyleId>
              </a:tblPr>
              <a:tblGrid>
                <a:gridCol w="3442100"/>
                <a:gridCol w="3772500"/>
                <a:gridCol w="3796300"/>
              </a:tblGrid>
              <a:tr h="44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F3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F3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Grid Search Result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F3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Analytical OLS (lm)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3A"/>
                    </a:solidFill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Intercept (B0)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13,260.22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13,270.42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Error Minimization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F3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Global Minimum Found (Convex Optimization)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" name="Google Shape;180;p20"/>
          <p:cNvSpPr/>
          <p:nvPr/>
        </p:nvSpPr>
        <p:spPr>
          <a:xfrm>
            <a:off x="590550" y="3671887"/>
            <a:ext cx="3442096" cy="19050"/>
          </a:xfrm>
          <a:prstGeom prst="rect">
            <a:avLst/>
          </a:prstGeom>
          <a:solidFill>
            <a:srgbClr val="00F3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4032646" y="3671887"/>
            <a:ext cx="3772495" cy="19050"/>
          </a:xfrm>
          <a:prstGeom prst="rect">
            <a:avLst/>
          </a:prstGeom>
          <a:solidFill>
            <a:srgbClr val="00F3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7805142" y="3671887"/>
            <a:ext cx="3796307" cy="19050"/>
          </a:xfrm>
          <a:prstGeom prst="rect">
            <a:avLst/>
          </a:prstGeom>
          <a:solidFill>
            <a:srgbClr val="00F3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90550" y="4105275"/>
            <a:ext cx="3442096" cy="9525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032646" y="4105275"/>
            <a:ext cx="3772495" cy="9525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7805142" y="4105275"/>
            <a:ext cx="3796307" cy="9525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90550" y="4524375"/>
            <a:ext cx="3442096" cy="9525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4032646" y="4524375"/>
            <a:ext cx="7568803" cy="9525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2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2019300"/>
            <a:ext cx="52673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590550" y="590550"/>
            <a:ext cx="1156144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3FF"/>
                </a:solidFill>
                <a:latin typeface="Poppins"/>
                <a:ea typeface="Poppins"/>
                <a:cs typeface="Poppins"/>
                <a:sym typeface="Poppins"/>
              </a:rPr>
              <a:t>DIAGNOSTIC HEALTH CHECK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590550" y="1285875"/>
            <a:ext cx="11010900" cy="9525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6" name="Google Shape;19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075" y="2028825"/>
            <a:ext cx="52482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6334125" y="2019300"/>
            <a:ext cx="55306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F3FF"/>
                </a:solidFill>
                <a:latin typeface="Poppins"/>
                <a:ea typeface="Poppins"/>
                <a:cs typeface="Poppins"/>
                <a:sym typeface="Poppins"/>
              </a:rPr>
              <a:t>VIOLATIONS DETECTED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334125" y="4222849"/>
            <a:ext cx="52673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Conclusion: Raw MLR is statistically unstable.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6419850" y="229743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6524625" y="2295525"/>
            <a:ext cx="50768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Three-Band Pattern:</a:t>
            </a: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 Signals uncaptured interactions between Smoker/BMI.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419850" y="2876371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524625" y="2874466"/>
            <a:ext cx="50768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Heteroscedasticity:</a:t>
            </a: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 Variance increases with fitted values, making p-values unreliable.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6419850" y="345531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524625" y="3453407"/>
            <a:ext cx="50768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Heavy Tails:</a:t>
            </a: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 Right tail deviation indicates non-normally distributed residuals.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2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2750492"/>
            <a:ext cx="5267325" cy="23474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50492"/>
            <a:ext cx="5267325" cy="234746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590550" y="590550"/>
            <a:ext cx="1156144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3FF"/>
                </a:solidFill>
                <a:latin typeface="Poppins"/>
                <a:ea typeface="Poppins"/>
                <a:cs typeface="Poppins"/>
                <a:sym typeface="Poppins"/>
              </a:rPr>
              <a:t>THE LOG-TRANSFORM SOLUTION</a:t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590550" y="1285875"/>
            <a:ext cx="11010900" cy="9525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885825" y="3045767"/>
            <a:ext cx="491061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FF"/>
                </a:solidFill>
                <a:latin typeface="Poppins"/>
                <a:ea typeface="Poppins"/>
                <a:cs typeface="Poppins"/>
                <a:sym typeface="Poppins"/>
              </a:rPr>
              <a:t>MATHEMATICAL FIX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885825" y="3522017"/>
            <a:ext cx="467677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By transforming to log(charges), we compress the extreme distance of outliers.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629400" y="3045767"/>
            <a:ext cx="491061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FF"/>
                </a:solidFill>
                <a:latin typeface="Poppins"/>
                <a:ea typeface="Poppins"/>
                <a:cs typeface="Poppins"/>
                <a:sym typeface="Poppins"/>
              </a:rPr>
              <a:t>DIAGNOSTIC RECOVERY</a:t>
            </a:r>
            <a:endParaRPr/>
          </a:p>
        </p:txBody>
      </p:sp>
      <p:pic>
        <p:nvPicPr>
          <p:cNvPr descr="image.png" id="217" name="Google Shape;21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8700" y="4377183"/>
            <a:ext cx="1731615" cy="18737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6629400" y="3522017"/>
            <a:ext cx="467677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Bands collapsed into a random cloud.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6629400" y="3811488"/>
            <a:ext cx="467677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Normal Q-Q plot straightened.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6629400" y="4100958"/>
            <a:ext cx="467677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Percentage-based risk assessment enabled.</a:t>
            </a:r>
            <a:endParaRPr/>
          </a:p>
        </p:txBody>
      </p:sp>
      <p:pic>
        <p:nvPicPr>
          <p:cNvPr descr="image.png" id="221" name="Google Shape;22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3574405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3863875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4153346"/>
            <a:ext cx="1619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2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1581150"/>
            <a:ext cx="1101090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590550" y="590550"/>
            <a:ext cx="1156144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3FF"/>
                </a:solidFill>
                <a:latin typeface="Poppins"/>
                <a:ea typeface="Poppins"/>
                <a:cs typeface="Poppins"/>
                <a:sym typeface="Poppins"/>
              </a:rPr>
              <a:t>MODEL SELECTION &amp; OPTIMIZATION</a:t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590550" y="1285875"/>
            <a:ext cx="11010900" cy="9525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590550" y="2539454"/>
            <a:ext cx="110109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Stepwise Selection (AIC-based) confirmed that </a:t>
            </a:r>
            <a:r>
              <a:rPr b="1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all predictors</a:t>
            </a: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 are significant drivers of insurance cost.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590550" y="5019675"/>
            <a:ext cx="110109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Adjusted R² peaked at 0.767 after Stepwise optimization.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2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3251745"/>
            <a:ext cx="5267325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251745"/>
            <a:ext cx="5267325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590550" y="590550"/>
            <a:ext cx="1156144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3FF"/>
                </a:solidFill>
                <a:latin typeface="Poppins"/>
                <a:ea typeface="Poppins"/>
                <a:cs typeface="Poppins"/>
                <a:sym typeface="Poppins"/>
              </a:rPr>
              <a:t>SYNTHESIS &amp; CONCLUSION</a:t>
            </a:r>
            <a:endParaRPr/>
          </a:p>
        </p:txBody>
      </p:sp>
      <p:sp>
        <p:nvSpPr>
          <p:cNvPr id="242" name="Google Shape;242;p24"/>
          <p:cNvSpPr/>
          <p:nvPr/>
        </p:nvSpPr>
        <p:spPr>
          <a:xfrm>
            <a:off x="590550" y="1285875"/>
            <a:ext cx="11010900" cy="9525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590550" y="2387054"/>
            <a:ext cx="110109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The transition from a Raw Multiple Linear Regression to a Log-Transformed Stepwise Model was the defining success of this project. While the initial model achieved a high R² (0.75), it violated core OLS assumptions, rendering its predictions statistically unstable.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885825" y="3547020"/>
            <a:ext cx="491061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FF"/>
                </a:solidFill>
                <a:latin typeface="Poppins"/>
                <a:ea typeface="Poppins"/>
                <a:cs typeface="Poppins"/>
                <a:sym typeface="Poppins"/>
              </a:rPr>
              <a:t>TECHNICAL INFERENCES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885825" y="4023270"/>
            <a:ext cx="46767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Correction of Heteroscedasticity: The initial "three-band" residual pattern was successfully resolved. Normalization of Errors: By pulling high-cost outliers closer to the mean, we satisfied the normality assumption. Interpretability: Shifting to a log-scale allowed for a percentage-based interpretation (e.g., 3.5% increase per year of age).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6629400" y="3547020"/>
            <a:ext cx="491061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FF"/>
                </a:solidFill>
                <a:latin typeface="Poppins"/>
                <a:ea typeface="Poppins"/>
                <a:cs typeface="Poppins"/>
                <a:sym typeface="Poppins"/>
              </a:rPr>
              <a:t>FINAL RESULT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6629400" y="4023270"/>
            <a:ext cx="46767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B0B0D0"/>
                </a:solidFill>
                <a:latin typeface="Lato"/>
                <a:ea typeface="Lato"/>
                <a:cs typeface="Lato"/>
                <a:sym typeface="Lato"/>
              </a:rPr>
              <a:t>Through Stepwise Selection and Best Subset analysis, all predictors—age, bmi, children, smoker, sex, and region—were proven significant cost drivers. The final model provides a robust, balanced framework for predictive accuracy, evidenced by the improved RMSE on the test set.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